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70" r:id="rId21"/>
    <p:sldId id="271" r:id="rId19"/>
    <p:sldId id="265" r:id="rId16"/>
    <p:sldId id="266" r:id="rId17"/>
    <p:sldId id="267" r:id="rId18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07040" y="502920"/>
            <a:ext cx="822960" cy="82296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669280"/>
            <a:ext cx="320040" cy="32004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6409944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OPTION C — ÉCHANGE INTERGÉNÉRATIONNEL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1828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Arial"/>
              </a:rPr>
              <a:t>TECH</a:t>
            </a:r>
            <a:r>
              <a:rPr sz="6400" b="1">
                <a:solidFill>
                  <a:srgbClr val="FFC700"/>
                </a:solidFill>
                <a:latin typeface="Arial"/>
              </a:rPr>
              <a:t>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868680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C8C9CD"/>
                </a:solidFill>
                <a:latin typeface="Arial"/>
              </a:rPr>
              <a:t>Mettre en relation jeunes et seniors pour des échanges de compétences mutuels.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73152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Amine Zennai · Wiam Azim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63640"/>
            <a:ext cx="73152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F76"/>
                </a:solidFill>
                <a:latin typeface="Arial"/>
              </a:rPr>
              <a:t>École d'ingénieur — 1ère année · techpapy.fr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636776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CONTEXTE &amp; MISSION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486400" cy="4114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B6F76"/>
                </a:solidFill>
                <a:latin typeface="Arial"/>
              </a:rPr>
              <a:t>LE CONSTAT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548640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FFC700"/>
                </a:solidFill>
                <a:latin typeface="Arial"/>
              </a:rPr>
              <a:t>■  </a:t>
            </a:r>
            <a:r>
              <a:rPr sz="1500">
                <a:solidFill>
                  <a:srgbClr val="111318"/>
                </a:solidFill>
                <a:latin typeface="Arial"/>
              </a:rPr>
              <a:t>L'isolement touche fortement les seniors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FC700"/>
                </a:solidFill>
                <a:latin typeface="Arial"/>
              </a:rPr>
              <a:t>■  </a:t>
            </a:r>
            <a:r>
              <a:rPr sz="1500">
                <a:solidFill>
                  <a:srgbClr val="111318"/>
                </a:solidFill>
                <a:latin typeface="Arial"/>
              </a:rPr>
              <a:t>Les jeunes ont besoin d'aide pour des compétences du quotidien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FC700"/>
                </a:solidFill>
                <a:latin typeface="Arial"/>
              </a:rPr>
              <a:t>■  </a:t>
            </a:r>
            <a:r>
              <a:rPr sz="1500">
                <a:solidFill>
                  <a:srgbClr val="111318"/>
                </a:solidFill>
                <a:latin typeface="Arial"/>
              </a:rPr>
              <a:t>Le savoir-faire des seniors se perd faute de transmission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828800"/>
            <a:ext cx="5212080" cy="384048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66344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C700"/>
                </a:solidFill>
                <a:latin typeface="Arial"/>
              </a:rPr>
              <a:t>NOTRE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606040"/>
            <a:ext cx="46634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Mettre en relation jeunes et seniors autour d'un principe simple : chacun a un savoir à transmettre et un besoin d'aide.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4297680"/>
            <a:ext cx="4206240" cy="12700"/>
          </a:xfrm>
          <a:prstGeom prst="rect">
            <a:avLst/>
          </a:prstGeom>
          <a:solidFill>
            <a:srgbClr val="333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526280"/>
            <a:ext cx="4663440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C700"/>
                </a:solidFill>
                <a:latin typeface="Arial"/>
              </a:rPr>
              <a:t>1 heure donnée = 1 heure reçue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5029200"/>
            <a:ext cx="46634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F76"/>
                </a:solidFill>
                <a:latin typeface="Arial"/>
              </a:rPr>
              <a:t>Un point d'échange par heure de compétence transmise.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636776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PARCOURS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PARCOURS UTILISATEUR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16916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1691640" cy="50292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76272"/>
            <a:ext cx="169164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11318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88920"/>
            <a:ext cx="14173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11318"/>
                </a:solidFill>
                <a:latin typeface="Arial"/>
              </a:rPr>
              <a:t>INSCRIPTION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91840"/>
            <a:ext cx="1472184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F76"/>
                </a:solidFill>
                <a:latin typeface="Arial"/>
              </a:rPr>
              <a:t>Création de compte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3154680"/>
            <a:ext cx="201168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C700"/>
                </a:solidFill>
                <a:latin typeface="Arial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41448" y="2103120"/>
            <a:ext cx="16916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41448" y="2103120"/>
            <a:ext cx="1691640" cy="50292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41448" y="2176272"/>
            <a:ext cx="169164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11318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8608" y="2788920"/>
            <a:ext cx="14173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11318"/>
                </a:solidFill>
                <a:latin typeface="Arial"/>
              </a:rPr>
              <a:t>COMPÉTENCES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1176" y="3291840"/>
            <a:ext cx="1472184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F76"/>
                </a:solidFill>
                <a:latin typeface="Arial"/>
              </a:rPr>
              <a:t>J'offre / je recherche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8" y="3154680"/>
            <a:ext cx="201168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C700"/>
                </a:solidFill>
                <a:latin typeface="Arial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4256" y="2103120"/>
            <a:ext cx="16916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34256" y="2103120"/>
            <a:ext cx="1691640" cy="50292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34256" y="2176272"/>
            <a:ext cx="169164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11318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1416" y="2788920"/>
            <a:ext cx="14173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11318"/>
                </a:solidFill>
                <a:latin typeface="Arial"/>
              </a:rPr>
              <a:t>DÉCOUVERTE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4" y="3291840"/>
            <a:ext cx="1472184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F76"/>
                </a:solidFill>
                <a:latin typeface="Arial"/>
              </a:rPr>
              <a:t>Parcourir la communauté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25896" y="3154680"/>
            <a:ext cx="201168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C700"/>
                </a:solidFill>
                <a:latin typeface="Arial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7064" y="2103120"/>
            <a:ext cx="16916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27064" y="2103120"/>
            <a:ext cx="1691640" cy="50292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27064" y="2176272"/>
            <a:ext cx="169164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1131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2788920"/>
            <a:ext cx="14173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11318"/>
                </a:solidFill>
                <a:latin typeface="Arial"/>
              </a:rPr>
              <a:t>MATCHING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3291840"/>
            <a:ext cx="1472184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F76"/>
                </a:solidFill>
                <a:latin typeface="Arial"/>
              </a:rPr>
              <a:t>Mise en relation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18704" y="3154680"/>
            <a:ext cx="201168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C700"/>
                </a:solidFill>
                <a:latin typeface="Arial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19872" y="2103120"/>
            <a:ext cx="16916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19872" y="2103120"/>
            <a:ext cx="1691640" cy="50292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19872" y="2176272"/>
            <a:ext cx="169164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11318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2788920"/>
            <a:ext cx="14173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11318"/>
                </a:solidFill>
                <a:latin typeface="Arial"/>
              </a:rPr>
              <a:t>SESSION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3291840"/>
            <a:ext cx="1472184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F76"/>
                </a:solidFill>
                <a:latin typeface="Arial"/>
              </a:rPr>
              <a:t>Planification + visio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11512" y="3154680"/>
            <a:ext cx="201168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C700"/>
                </a:solidFill>
                <a:latin typeface="Arial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12680" y="2103120"/>
            <a:ext cx="16916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12680" y="2103120"/>
            <a:ext cx="1691640" cy="50292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12680" y="2176272"/>
            <a:ext cx="169164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11318"/>
                </a:solidFill>
                <a:latin typeface="Arial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2788920"/>
            <a:ext cx="14173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11318"/>
                </a:solidFill>
                <a:latin typeface="Arial"/>
              </a:rPr>
              <a:t>POINTS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22408" y="3291840"/>
            <a:ext cx="1472184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6F76"/>
                </a:solidFill>
                <a:latin typeface="Arial"/>
              </a:rPr>
              <a:t>Récompense mutuelle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788920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FONCTIONNALITÉS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CE QUE FAIT LA PLATEFORME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358444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29968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MATCHING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87168"/>
            <a:ext cx="3182112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Compétences offertes / recherchées, mise en relation directe.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1828800"/>
            <a:ext cx="358444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828800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2029968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VISIOCONFÉRENCE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2487168"/>
            <a:ext cx="3182112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Développée en interne — WebRTC peer-to-peer, aucun service tiers.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828800"/>
            <a:ext cx="358444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828800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029968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POINTS D'ÉCHANGE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487168"/>
            <a:ext cx="3182112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1h donnée = 1h reçue, historique complet.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50208"/>
            <a:ext cx="358444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950208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151376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CALENDRIER PARTAGÉ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608576"/>
            <a:ext cx="3182112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Vue mensuelle des sessions programmées.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3950208"/>
            <a:ext cx="358444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34256" y="3950208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4151376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BASE DE CONNAISSANCES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4608576"/>
            <a:ext cx="3182112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Articles collaboratifs, FAQ et tutoriels, recherche.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19872" y="3950208"/>
            <a:ext cx="358444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19872" y="3950208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4151376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BADGES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608576"/>
            <a:ext cx="3182112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Attribution automatique selon la progression.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459736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EN LIGNE DÈS AUJOURD'HUI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1064240" cy="356616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10515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C700"/>
                </a:solidFill>
                <a:latin typeface="Arial"/>
              </a:rPr>
              <a:t>https://techpapy.fr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10332720" cy="2011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Frontend + API déployés sur Google Cloud Platform (Cloud Run + Cloud SQL).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HTTPS automatique, base de données PostgreSQL managée, montée en charge automatique.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Inscription → compétences → matching → session → visio → points : tout est fonctionnel de bout en bout.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097280" y="-1097280"/>
            <a:ext cx="2926080" cy="292608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828800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33353D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058400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ARCHITECTURE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343400"/>
            <a:ext cx="91440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F76"/>
                </a:solidFill>
                <a:latin typeface="Arial"/>
              </a:rPr>
              <a:t>Stack, sécurité, déploiement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295144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VUE D'ENSEMBLE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30175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606040"/>
            <a:ext cx="3017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301752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F76"/>
                </a:solidFill>
                <a:latin typeface="Arial"/>
              </a:rPr>
              <a:t>Next.js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F76"/>
                </a:solidFill>
                <a:latin typeface="Arial"/>
              </a:rPr>
              <a:t>(App Router)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377440"/>
            <a:ext cx="30175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606040"/>
            <a:ext cx="3017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063240"/>
            <a:ext cx="301752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F76"/>
                </a:solidFill>
                <a:latin typeface="Arial"/>
              </a:rPr>
              <a:t>Express API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F76"/>
                </a:solidFill>
                <a:latin typeface="Arial"/>
              </a:rPr>
              <a:t>+ Socket.IO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377440"/>
            <a:ext cx="301752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606040"/>
            <a:ext cx="3017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BASE DE DONNÉES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063240"/>
            <a:ext cx="301752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F76"/>
                </a:solidFill>
                <a:latin typeface="Arial"/>
              </a:rPr>
              <a:t>PostgreSQL</a:t>
            </a:r>
          </a:p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B6F76"/>
                </a:solidFill>
                <a:latin typeface="Arial"/>
              </a:rPr>
              <a:t>(Cloud SQL)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834640"/>
            <a:ext cx="128016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6B6F76"/>
                </a:solidFill>
                <a:latin typeface="Arial"/>
              </a:rPr>
              <a:t>HTTPS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834640"/>
            <a:ext cx="128016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6B6F76"/>
                </a:solidFill>
                <a:latin typeface="Arial"/>
              </a:rPr>
              <a:t>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206240"/>
            <a:ext cx="106984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6B6F76"/>
                </a:solidFill>
                <a:latin typeface="Arial"/>
              </a:rPr>
              <a:t>+ Socket.IO (signalisation WebRTC) · Prometheus/Grafana (monitoring) · GitHub Actions (CI/CD)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02920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1318"/>
                </a:solidFill>
                <a:latin typeface="Arial"/>
              </a:rPr>
              <a:t>Déployé sur Google Cloud Platform : Cloud Run (API + Frontend) et Cloud SQL, HTTPS automatique.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636776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OBLIGATOIRE, PAS OPTIONNEL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35844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29968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JWT + REFRESH TOKENS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87168"/>
            <a:ext cx="3182112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Authentification avec rotation automatique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1828800"/>
            <a:ext cx="35844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828800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2029968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BCRYPT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2487168"/>
            <a:ext cx="3182112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Mots de passe hachés, jamais en clair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828800"/>
            <a:ext cx="35844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828800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029968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CSRF / XSS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487168"/>
            <a:ext cx="3182112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Sanitisation des entrées, protection des cookies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721608"/>
            <a:ext cx="35844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721608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922776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RBAC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379976"/>
            <a:ext cx="3182112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Rôles utilisateur / administrateur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3721608"/>
            <a:ext cx="35844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34256" y="3721608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3922776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RATE LIMITING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4379976"/>
            <a:ext cx="3182112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Anti brute-force sur les routes sensibles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19872" y="3721608"/>
            <a:ext cx="35844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19872" y="3721608"/>
            <a:ext cx="411480" cy="508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3922776"/>
            <a:ext cx="3182112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1318"/>
                </a:solidFill>
                <a:latin typeface="Arial"/>
              </a:rPr>
              <a:t>LOGS D'AUDIT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379976"/>
            <a:ext cx="3182112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6F76"/>
                </a:solidFill>
                <a:latin typeface="Arial"/>
              </a:rPr>
              <a:t>Connexions, échecs, actions sensibles tracées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307592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MONITORING &amp; CI/CD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B6F76"/>
                </a:solidFill>
                <a:latin typeface="Arial"/>
              </a:rPr>
              <a:t>OBSERVABILITÉ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530352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Prometheus + Grafana déployés sur GCP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Cloud Logging (logs centralisés automatiques)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Alertes Slack automatiques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Cloud Trace (performances applicatives)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B6F76"/>
                </a:solidFill>
                <a:latin typeface="Arial"/>
              </a:rPr>
              <a:t>CI/CD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240280"/>
            <a:ext cx="530352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GitHub Actions : lint, tests, scan sécurité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Couverture de tests &gt; 70%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Déploiement automatique sur push (main)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Rollback en un clic vers la révision précédente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3200400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11318"/>
                </a:solidFill>
              </a:rPr>
              <a:t>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318"/>
                </a:solidFill>
              </a:rPr>
              <a:t>DÉPLOIEMENT SUR GOOGLE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11318"/>
                </a:solidFill>
              </a:rPr>
              <a:t>TECHPAPY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11318"/>
                </a:solidFill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nfrastructure_gc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759" y="1750000"/>
            <a:ext cx="7442176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143000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STACK TECHNIQUE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1064240" cy="566928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29968"/>
            <a:ext cx="29260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318"/>
                </a:solidFill>
                <a:latin typeface="Arial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029968"/>
            <a:ext cx="7498079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F76"/>
                </a:solidFill>
                <a:latin typeface="Arial"/>
              </a:rPr>
              <a:t>Next.js 16, TypeScript, Tailwind CSS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87168"/>
            <a:ext cx="11064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96896"/>
            <a:ext cx="29260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318"/>
                </a:solidFill>
                <a:latin typeface="Arial"/>
              </a:rP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596896"/>
            <a:ext cx="7498079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F76"/>
                </a:solidFill>
                <a:latin typeface="Arial"/>
              </a:rPr>
              <a:t>Express, TypeScript, Prisma 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54096"/>
            <a:ext cx="11064240" cy="566928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63824"/>
            <a:ext cx="29260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318"/>
                </a:solidFill>
                <a:latin typeface="Arial"/>
              </a:rPr>
              <a:t>Base de données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7498079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F76"/>
                </a:solidFill>
                <a:latin typeface="Arial"/>
              </a:rPr>
              <a:t>PostgreSQL (Cloud SQL)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21024"/>
            <a:ext cx="11064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30752"/>
            <a:ext cx="29260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318"/>
                </a:solidFill>
                <a:latin typeface="Arial"/>
              </a:rPr>
              <a:t>Visioconférence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730752"/>
            <a:ext cx="7498079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F76"/>
                </a:solidFill>
                <a:latin typeface="Arial"/>
              </a:rPr>
              <a:t>WebRTC (simple-peer) + Socket.IO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187952"/>
            <a:ext cx="11064240" cy="566928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97680"/>
            <a:ext cx="29260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318"/>
                </a:solidFill>
                <a:latin typeface="Arial"/>
              </a:rPr>
              <a:t>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297680"/>
            <a:ext cx="7498079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F76"/>
                </a:solidFill>
                <a:latin typeface="Arial"/>
              </a:rPr>
              <a:t>Google Cloud Platform (Cloud Run, Cloud SQL)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754880"/>
            <a:ext cx="11064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864608"/>
            <a:ext cx="29260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1318"/>
                </a:solidFill>
                <a:latin typeface="Arial"/>
              </a:rPr>
              <a:t>CI/CD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864608"/>
            <a:ext cx="7498079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F76"/>
                </a:solidFill>
                <a:latin typeface="Arial"/>
              </a:rPr>
              <a:t>GitHub Actions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097280" y="-1097280"/>
            <a:ext cx="2926080" cy="292608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828800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33353D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058400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BILAN DU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343400"/>
            <a:ext cx="91440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F76"/>
                </a:solidFill>
                <a:latin typeface="Arial"/>
              </a:rPr>
              <a:t>Ce qui est fait, ce qui reste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295144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>
            <a:noAutofit/>
          </a:bodyPr>
          <a:lstStyle/>
          <a:p>
            <a:pPr algn="ctr"/>
            <a:r>
              <a:rPr sz="1200" b="1">
                <a:solidFill>
                  <a:srgbClr val="111318"/>
                </a:solidFill>
                <a:latin typeface="Arial"/>
              </a:rPr>
              <a:t>TRANSPARENCE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318"/>
                </a:solidFill>
                <a:latin typeface="Arial"/>
              </a:rPr>
              <a:t>CE QUI RESTE À FAIRE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TECHPAPY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B6F76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B6F76"/>
                </a:solidFill>
                <a:latin typeface="Arial"/>
              </a:rPr>
              <a:t>EN COURS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530352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Validation du CI/CD automatisé (secrets GitHub)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Déploiement de la VM de monitoring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Certificat HTTPS du domaine (propagation DNS)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B6F76"/>
                </a:solidFill>
                <a:latin typeface="Arial"/>
              </a:rPr>
              <a:t>NON FAIT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240280"/>
            <a:ext cx="530352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Kubernetes (recommandé, pas obligatoire)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FFC700"/>
                </a:solidFill>
                <a:latin typeface="Arial"/>
              </a:rPr>
              <a:t>■  </a:t>
            </a:r>
            <a:r>
              <a:rPr sz="1450">
                <a:solidFill>
                  <a:srgbClr val="111318"/>
                </a:solidFill>
                <a:latin typeface="Arial"/>
              </a:rPr>
              <a:t>Attribution manuelle des rôles de modération avancée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371600" y="4389120"/>
            <a:ext cx="3657600" cy="3657600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9144000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Arial"/>
              </a:rPr>
              <a:t>MERCI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49039"/>
            <a:ext cx="91440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FC700"/>
                </a:solidFill>
                <a:latin typeface="Arial"/>
              </a:rPr>
              <a:t>Questions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035040"/>
            <a:ext cx="73152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F76"/>
                </a:solidFill>
                <a:latin typeface="Arial"/>
              </a:rPr>
              <a:t>techpapy.fr  ·  github.com/wiameazim/Techpapy_v1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971800" cy="310896"/>
          </a:xfrm>
          <a:prstGeom prst="rect">
            <a:avLst/>
          </a:prstGeom>
          <a:solidFill>
            <a:srgbClr val="FFC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2971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11318"/>
                </a:solidFill>
              </a:rPr>
              <a:t>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686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318"/>
                </a:solidFill>
              </a:rPr>
              <a:t>MONITORING &amp; GESTION COMPLÈTE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11064240" cy="1905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11318"/>
                </a:solidFill>
              </a:rPr>
              <a:t>TECHPAPY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11318"/>
                </a:solidFill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19088"/>
            <a:ext cx="11064240" cy="12700"/>
          </a:xfrm>
          <a:prstGeom prst="rect">
            <a:avLst/>
          </a:prstGeom>
          <a:solidFill>
            <a:srgbClr val="D8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11318"/>
                </a:solidFill>
              </a:rPr>
              <a:t>VUE D'ENSEMBLE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111318"/>
                </a:solidFill>
              </a:rPr>
              <a:t>■  Statistiques clés : utilisateurs, compétences, matchs et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11318"/>
                </a:solidFill>
              </a:rPr>
              <a:t>■  sessions par statut, points distribués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11318"/>
                </a:solidFill>
              </a:rPr>
              <a:t>■  Graphique des inscriptions sur 14 jours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11318"/>
                </a:solidFill>
              </a:rPr>
              <a:t>■  Dernières entrées du journal d'audit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11318"/>
                </a:solidFill>
              </a:rPr>
              <a:t>GESTION (CRUD COMPLET)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111318"/>
                </a:solidFill>
              </a:rPr>
              <a:t>■  Utilisateurs : rôle, points, suppression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11318"/>
                </a:solidFill>
              </a:rPr>
              <a:t>■  Compétences, matchs, sessions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11318"/>
                </a:solidFill>
              </a:rPr>
              <a:t>■  Badges et leur attribution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11318"/>
                </a:solidFill>
              </a:rPr>
              <a:t>■  Articles de la base de connaissances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11318"/>
                </a:solidFill>
              </a:rPr>
              <a:t>■  Ajustements manuels de points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11318"/>
                </a:solidFill>
              </a:rPr>
              <a:t>■  Journal d'audit (lecture seule)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