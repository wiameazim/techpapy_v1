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70" r:id="rId21"/>
    <p:sldId id="265" r:id="rId16"/>
    <p:sldId id="266" r:id="rId17"/>
    <p:sldId id="267" r:id="rId18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607040" y="502920"/>
            <a:ext cx="822960" cy="82296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669280"/>
            <a:ext cx="320040" cy="32004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6409944" cy="310896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>
            <a:noAutofit/>
          </a:bodyPr>
          <a:lstStyle/>
          <a:p>
            <a:pPr algn="ctr"/>
            <a:r>
              <a:rPr sz="1200" b="1">
                <a:solidFill>
                  <a:srgbClr val="111318"/>
                </a:solidFill>
                <a:latin typeface="Arial"/>
              </a:rPr>
              <a:t>OPTION C — ÉCHANGE INTERGÉNÉRATIONNEL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515600" cy="18288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FFFFF"/>
                </a:solidFill>
                <a:latin typeface="Arial"/>
              </a:rPr>
              <a:t>TECH</a:t>
            </a:r>
            <a:r>
              <a:rPr sz="6400" b="1">
                <a:solidFill>
                  <a:srgbClr val="FFC700"/>
                </a:solidFill>
                <a:latin typeface="Arial"/>
              </a:rPr>
              <a:t>PAPY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8686800" cy="7315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C8C9CD"/>
                </a:solidFill>
                <a:latin typeface="Arial"/>
              </a:rPr>
              <a:t>Mettre en relation jeunes et seniors pour des échanges de compétences mutuels.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73152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Amine Zennai · Wiam Azim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63640"/>
            <a:ext cx="73152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6F76"/>
                </a:solidFill>
                <a:latin typeface="Arial"/>
              </a:rPr>
              <a:t>École d'ingénieur — 1ère année · techpapy.fr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636776" cy="310896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>
            <a:noAutofit/>
          </a:bodyPr>
          <a:lstStyle/>
          <a:p>
            <a:pPr algn="ctr"/>
            <a:r>
              <a:rPr sz="1200" b="1">
                <a:solidFill>
                  <a:srgbClr val="111318"/>
                </a:solidFill>
                <a:latin typeface="Arial"/>
              </a:rPr>
              <a:t>CONTEXTE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1318"/>
                </a:solidFill>
                <a:latin typeface="Arial"/>
              </a:rPr>
              <a:t>CONTEXTE &amp; MISSION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11064240" cy="19050"/>
          </a:xfrm>
          <a:prstGeom prst="rect">
            <a:avLst/>
          </a:prstGeom>
          <a:solidFill>
            <a:srgbClr val="111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B6F76"/>
                </a:solidFill>
                <a:latin typeface="Arial"/>
              </a:rPr>
              <a:t>TECHPAPY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6B6F76"/>
                </a:solidFill>
                <a:latin typeface="Arial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64240" cy="12700"/>
          </a:xfrm>
          <a:prstGeom prst="rect">
            <a:avLst/>
          </a:prstGeom>
          <a:solidFill>
            <a:srgbClr val="D8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486400" cy="41148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B6F76"/>
                </a:solidFill>
                <a:latin typeface="Arial"/>
              </a:rPr>
              <a:t>LE CONSTAT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40280"/>
            <a:ext cx="5486400" cy="3200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FFC700"/>
                </a:solidFill>
                <a:latin typeface="Arial"/>
              </a:rPr>
              <a:t>■  </a:t>
            </a:r>
            <a:r>
              <a:rPr sz="1500">
                <a:solidFill>
                  <a:srgbClr val="111318"/>
                </a:solidFill>
                <a:latin typeface="Arial"/>
              </a:rPr>
              <a:t>L'isolement touche fortement les seniors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FFC700"/>
                </a:solidFill>
                <a:latin typeface="Arial"/>
              </a:rPr>
              <a:t>■  </a:t>
            </a:r>
            <a:r>
              <a:rPr sz="1500">
                <a:solidFill>
                  <a:srgbClr val="111318"/>
                </a:solidFill>
                <a:latin typeface="Arial"/>
              </a:rPr>
              <a:t>Les jeunes ont besoin d'aide pour des compétences du quotidien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FFC700"/>
                </a:solidFill>
                <a:latin typeface="Arial"/>
              </a:rPr>
              <a:t>■  </a:t>
            </a:r>
            <a:r>
              <a:rPr sz="1500">
                <a:solidFill>
                  <a:srgbClr val="111318"/>
                </a:solidFill>
                <a:latin typeface="Arial"/>
              </a:rPr>
              <a:t>Le savoir-faire des seniors se perd faute de transmission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828800"/>
            <a:ext cx="5212080" cy="3840480"/>
          </a:xfrm>
          <a:prstGeom prst="rect">
            <a:avLst/>
          </a:prstGeom>
          <a:solidFill>
            <a:srgbClr val="111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103120"/>
            <a:ext cx="466344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C700"/>
                </a:solidFill>
                <a:latin typeface="Arial"/>
              </a:rPr>
              <a:t>NOTRE MISSION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606040"/>
            <a:ext cx="4663440" cy="1463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Arial"/>
              </a:rPr>
              <a:t>Mettre en relation jeunes et seniors autour d'un principe simple : chacun a un savoir à transmettre et un besoin d'aide.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75120" y="4297680"/>
            <a:ext cx="4206240" cy="12700"/>
          </a:xfrm>
          <a:prstGeom prst="rect">
            <a:avLst/>
          </a:prstGeom>
          <a:solidFill>
            <a:srgbClr val="333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526280"/>
            <a:ext cx="4663440" cy="914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C700"/>
                </a:solidFill>
                <a:latin typeface="Arial"/>
              </a:rPr>
              <a:t>1 heure donnée = 1 heure reçue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5029200"/>
            <a:ext cx="466344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F76"/>
                </a:solidFill>
                <a:latin typeface="Arial"/>
              </a:rPr>
              <a:t>Un point d'échange par heure de compétence transmise.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636776" cy="310896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>
            <a:noAutofit/>
          </a:bodyPr>
          <a:lstStyle/>
          <a:p>
            <a:pPr algn="ctr"/>
            <a:r>
              <a:rPr sz="1200" b="1">
                <a:solidFill>
                  <a:srgbClr val="111318"/>
                </a:solidFill>
                <a:latin typeface="Arial"/>
              </a:rPr>
              <a:t>PARCOURS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1318"/>
                </a:solidFill>
                <a:latin typeface="Arial"/>
              </a:rPr>
              <a:t>PARCOURS UTILISATEUR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11064240" cy="19050"/>
          </a:xfrm>
          <a:prstGeom prst="rect">
            <a:avLst/>
          </a:prstGeom>
          <a:solidFill>
            <a:srgbClr val="111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B6F76"/>
                </a:solidFill>
                <a:latin typeface="Arial"/>
              </a:rPr>
              <a:t>TECHPAPY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6B6F76"/>
                </a:solidFill>
                <a:latin typeface="Arial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64240" cy="12700"/>
          </a:xfrm>
          <a:prstGeom prst="rect">
            <a:avLst/>
          </a:prstGeom>
          <a:solidFill>
            <a:srgbClr val="D8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16916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103120"/>
            <a:ext cx="1691640" cy="50292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176272"/>
            <a:ext cx="169164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11318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788920"/>
            <a:ext cx="141732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11318"/>
                </a:solidFill>
                <a:latin typeface="Arial"/>
              </a:rPr>
              <a:t>INSCRIPTION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291840"/>
            <a:ext cx="1472184" cy="13716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6F76"/>
                </a:solidFill>
                <a:latin typeface="Arial"/>
              </a:rPr>
              <a:t>Création de compte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3154680"/>
            <a:ext cx="201168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C700"/>
                </a:solidFill>
                <a:latin typeface="Arial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41448" y="2103120"/>
            <a:ext cx="16916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441448" y="2103120"/>
            <a:ext cx="1691640" cy="50292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41448" y="2176272"/>
            <a:ext cx="169164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11318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78608" y="2788920"/>
            <a:ext cx="141732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11318"/>
                </a:solidFill>
                <a:latin typeface="Arial"/>
              </a:rPr>
              <a:t>COMPÉTENCES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51176" y="3291840"/>
            <a:ext cx="1472184" cy="13716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6F76"/>
                </a:solidFill>
                <a:latin typeface="Arial"/>
              </a:rPr>
              <a:t>J'offre / je recherche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3088" y="3154680"/>
            <a:ext cx="201168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C700"/>
                </a:solidFill>
                <a:latin typeface="Arial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4256" y="2103120"/>
            <a:ext cx="16916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34256" y="2103120"/>
            <a:ext cx="1691640" cy="50292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34256" y="2176272"/>
            <a:ext cx="169164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11318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71416" y="2788920"/>
            <a:ext cx="141732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11318"/>
                </a:solidFill>
                <a:latin typeface="Arial"/>
              </a:rPr>
              <a:t>DÉCOUVERTE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3984" y="3291840"/>
            <a:ext cx="1472184" cy="13716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6F76"/>
                </a:solidFill>
                <a:latin typeface="Arial"/>
              </a:rPr>
              <a:t>Parcourir la communauté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25896" y="3154680"/>
            <a:ext cx="201168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C700"/>
                </a:solidFill>
                <a:latin typeface="Arial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27064" y="2103120"/>
            <a:ext cx="16916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27064" y="2103120"/>
            <a:ext cx="1691640" cy="50292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27064" y="2176272"/>
            <a:ext cx="169164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11318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4224" y="2788920"/>
            <a:ext cx="141732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11318"/>
                </a:solidFill>
                <a:latin typeface="Arial"/>
              </a:rPr>
              <a:t>MATCHING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36792" y="3291840"/>
            <a:ext cx="1472184" cy="13716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6F76"/>
                </a:solidFill>
                <a:latin typeface="Arial"/>
              </a:rPr>
              <a:t>Mise en relation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18704" y="3154680"/>
            <a:ext cx="201168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C700"/>
                </a:solidFill>
                <a:latin typeface="Arial"/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19872" y="2103120"/>
            <a:ext cx="16916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19872" y="2103120"/>
            <a:ext cx="1691640" cy="50292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19872" y="2176272"/>
            <a:ext cx="169164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11318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2" y="2788920"/>
            <a:ext cx="141732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11318"/>
                </a:solidFill>
                <a:latin typeface="Arial"/>
              </a:rPr>
              <a:t>SESSION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0" y="3291840"/>
            <a:ext cx="1472184" cy="13716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6F76"/>
                </a:solidFill>
                <a:latin typeface="Arial"/>
              </a:rPr>
              <a:t>Planification + visio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11512" y="3154680"/>
            <a:ext cx="201168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C700"/>
                </a:solidFill>
                <a:latin typeface="Arial"/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012680" y="2103120"/>
            <a:ext cx="16916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12680" y="2103120"/>
            <a:ext cx="1691640" cy="50292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12680" y="2176272"/>
            <a:ext cx="169164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11318"/>
                </a:solidFill>
                <a:latin typeface="Arial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49840" y="2788920"/>
            <a:ext cx="141732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11318"/>
                </a:solidFill>
                <a:latin typeface="Arial"/>
              </a:rPr>
              <a:t>POINTS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22408" y="3291840"/>
            <a:ext cx="1472184" cy="13716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6F76"/>
                </a:solidFill>
                <a:latin typeface="Arial"/>
              </a:rPr>
              <a:t>Récompense mutuelle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2788920" cy="310896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>
            <a:noAutofit/>
          </a:bodyPr>
          <a:lstStyle/>
          <a:p>
            <a:pPr algn="ctr"/>
            <a:r>
              <a:rPr sz="1200" b="1">
                <a:solidFill>
                  <a:srgbClr val="111318"/>
                </a:solidFill>
                <a:latin typeface="Arial"/>
              </a:rPr>
              <a:t>FONCTIONNALITÉS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1318"/>
                </a:solidFill>
                <a:latin typeface="Arial"/>
              </a:rPr>
              <a:t>CE QUE FAIT LA PLATEFORME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11064240" cy="19050"/>
          </a:xfrm>
          <a:prstGeom prst="rect">
            <a:avLst/>
          </a:prstGeom>
          <a:solidFill>
            <a:srgbClr val="111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B6F76"/>
                </a:solidFill>
                <a:latin typeface="Arial"/>
              </a:rPr>
              <a:t>TECHPAPY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6B6F76"/>
                </a:solidFill>
                <a:latin typeface="Arial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64240" cy="12700"/>
          </a:xfrm>
          <a:prstGeom prst="rect">
            <a:avLst/>
          </a:prstGeom>
          <a:solidFill>
            <a:srgbClr val="D8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358444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828800"/>
            <a:ext cx="411480" cy="5080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029968"/>
            <a:ext cx="3182112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1318"/>
                </a:solidFill>
                <a:latin typeface="Arial"/>
              </a:rPr>
              <a:t>MATCHING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487168"/>
            <a:ext cx="3182112" cy="10972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6F76"/>
                </a:solidFill>
                <a:latin typeface="Arial"/>
              </a:rPr>
              <a:t>Compétences offertes / recherchées, mise en relation directe.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4256" y="1828800"/>
            <a:ext cx="358444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34256" y="1828800"/>
            <a:ext cx="411480" cy="5080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5424" y="2029968"/>
            <a:ext cx="3182112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1318"/>
                </a:solidFill>
                <a:latin typeface="Arial"/>
              </a:rPr>
              <a:t>VISIOCONFÉRENCE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5424" y="2487168"/>
            <a:ext cx="3182112" cy="10972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6F76"/>
                </a:solidFill>
                <a:latin typeface="Arial"/>
              </a:rPr>
              <a:t>Développée en interne — WebRTC peer-to-peer, aucun service tiers.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828800"/>
            <a:ext cx="358444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828800"/>
            <a:ext cx="411480" cy="5080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2029968"/>
            <a:ext cx="3182112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1318"/>
                </a:solidFill>
                <a:latin typeface="Arial"/>
              </a:rPr>
              <a:t>POINTS D'ÉCHANGE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487168"/>
            <a:ext cx="3182112" cy="10972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6F76"/>
                </a:solidFill>
                <a:latin typeface="Arial"/>
              </a:rPr>
              <a:t>1h donnée = 1h reçue, historique complet.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950208"/>
            <a:ext cx="358444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950208"/>
            <a:ext cx="411480" cy="5080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151376"/>
            <a:ext cx="3182112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1318"/>
                </a:solidFill>
                <a:latin typeface="Arial"/>
              </a:rPr>
              <a:t>CALENDRIER PARTAGÉ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608576"/>
            <a:ext cx="3182112" cy="10972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6F76"/>
                </a:solidFill>
                <a:latin typeface="Arial"/>
              </a:rPr>
              <a:t>Vue mensuelle des sessions programmées.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34256" y="3950208"/>
            <a:ext cx="358444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34256" y="3950208"/>
            <a:ext cx="411480" cy="5080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35424" y="4151376"/>
            <a:ext cx="3182112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1318"/>
                </a:solidFill>
                <a:latin typeface="Arial"/>
              </a:rPr>
              <a:t>BASE DE CONNAISSANCES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35424" y="4608576"/>
            <a:ext cx="3182112" cy="10972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6F76"/>
                </a:solidFill>
                <a:latin typeface="Arial"/>
              </a:rPr>
              <a:t>Articles collaboratifs, FAQ et tutoriels, recherche.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19872" y="3950208"/>
            <a:ext cx="358444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19872" y="3950208"/>
            <a:ext cx="411480" cy="5080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0" y="4151376"/>
            <a:ext cx="3182112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1318"/>
                </a:solidFill>
                <a:latin typeface="Arial"/>
              </a:rPr>
              <a:t>BADGES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4608576"/>
            <a:ext cx="3182112" cy="10972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6F76"/>
                </a:solidFill>
                <a:latin typeface="Arial"/>
              </a:rPr>
              <a:t>Attribution automatique selon la progression.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2459736" cy="310896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>
            <a:noAutofit/>
          </a:bodyPr>
          <a:lstStyle/>
          <a:p>
            <a:pPr algn="ctr"/>
            <a:r>
              <a:rPr sz="1200" b="1">
                <a:solidFill>
                  <a:srgbClr val="111318"/>
                </a:solidFill>
                <a:latin typeface="Arial"/>
              </a:rPr>
              <a:t>DÉMONSTRATION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1318"/>
                </a:solidFill>
                <a:latin typeface="Arial"/>
              </a:rPr>
              <a:t>EN LIGNE DÈS AUJOURD'HUI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11064240" cy="19050"/>
          </a:xfrm>
          <a:prstGeom prst="rect">
            <a:avLst/>
          </a:prstGeom>
          <a:solidFill>
            <a:srgbClr val="111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B6F76"/>
                </a:solidFill>
                <a:latin typeface="Arial"/>
              </a:rPr>
              <a:t>TECHPAPY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6B6F76"/>
                </a:solidFill>
                <a:latin typeface="Arial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64240" cy="12700"/>
          </a:xfrm>
          <a:prstGeom prst="rect">
            <a:avLst/>
          </a:prstGeom>
          <a:solidFill>
            <a:srgbClr val="D8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20240"/>
            <a:ext cx="11064240" cy="3566160"/>
          </a:xfrm>
          <a:prstGeom prst="rect">
            <a:avLst/>
          </a:prstGeom>
          <a:solidFill>
            <a:srgbClr val="111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286000"/>
            <a:ext cx="1051560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C700"/>
                </a:solidFill>
                <a:latin typeface="Arial"/>
              </a:rPr>
              <a:t>https://techpapy.fr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63240"/>
            <a:ext cx="10332720" cy="2011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FFFFF"/>
                </a:solidFill>
                <a:latin typeface="Arial"/>
              </a:rPr>
              <a:t>Frontend + API déployés sur Google Cloud Platform (Cloud Run + Cloud SQL).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FFFFFF"/>
                </a:solidFill>
                <a:latin typeface="Arial"/>
              </a:rPr>
              <a:t>HTTPS automatique, base de données PostgreSQL managée, montée en charge automatique.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FFFFFF"/>
                </a:solidFill>
                <a:latin typeface="Arial"/>
              </a:rPr>
              <a:t>Inscription → compétences → matching → session → visio → points : tout est fonctionnel de bout en bout.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1097280" y="-1097280"/>
            <a:ext cx="2926080" cy="292608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828800" cy="10972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33353D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058400" cy="10972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ARCHITECTURE TECHNIQUE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343400"/>
            <a:ext cx="914400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B6F76"/>
                </a:solidFill>
                <a:latin typeface="Arial"/>
              </a:rPr>
              <a:t>Stack, sécurité, déploiement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2295144" cy="310896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>
            <a:noAutofit/>
          </a:bodyPr>
          <a:lstStyle/>
          <a:p>
            <a:pPr algn="ctr"/>
            <a:r>
              <a:rPr sz="1200" b="1">
                <a:solidFill>
                  <a:srgbClr val="111318"/>
                </a:solidFill>
                <a:latin typeface="Arial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1318"/>
                </a:solidFill>
                <a:latin typeface="Arial"/>
              </a:rPr>
              <a:t>VUE D'ENSEMBLE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11064240" cy="19050"/>
          </a:xfrm>
          <a:prstGeom prst="rect">
            <a:avLst/>
          </a:prstGeom>
          <a:solidFill>
            <a:srgbClr val="111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B6F76"/>
                </a:solidFill>
                <a:latin typeface="Arial"/>
              </a:rPr>
              <a:t>TECHPAPY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6B6F76"/>
                </a:solidFill>
                <a:latin typeface="Arial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64240" cy="12700"/>
          </a:xfrm>
          <a:prstGeom prst="rect">
            <a:avLst/>
          </a:prstGeom>
          <a:solidFill>
            <a:srgbClr val="D8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377440"/>
            <a:ext cx="3017520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606040"/>
            <a:ext cx="301752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111318"/>
                </a:solidFill>
                <a:latin typeface="Arial"/>
              </a:rPr>
              <a:t>FRONTEND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63240"/>
            <a:ext cx="301752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B6F76"/>
                </a:solidFill>
                <a:latin typeface="Arial"/>
              </a:rPr>
              <a:t>Next.js</a:t>
            </a:r>
          </a:p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B6F76"/>
                </a:solidFill>
                <a:latin typeface="Arial"/>
              </a:rPr>
              <a:t>(App Router)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377440"/>
            <a:ext cx="3017520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606040"/>
            <a:ext cx="301752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111318"/>
                </a:solidFill>
                <a:latin typeface="Arial"/>
              </a:rPr>
              <a:t>BACKEND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063240"/>
            <a:ext cx="301752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B6F76"/>
                </a:solidFill>
                <a:latin typeface="Arial"/>
              </a:rPr>
              <a:t>Express API</a:t>
            </a:r>
          </a:p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B6F76"/>
                </a:solidFill>
                <a:latin typeface="Arial"/>
              </a:rPr>
              <a:t>+ Socket.IO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2377440"/>
            <a:ext cx="3017520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2606040"/>
            <a:ext cx="301752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111318"/>
                </a:solidFill>
                <a:latin typeface="Arial"/>
              </a:rPr>
              <a:t>BASE DE DONNÉES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063240"/>
            <a:ext cx="301752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B6F76"/>
                </a:solidFill>
                <a:latin typeface="Arial"/>
              </a:rPr>
              <a:t>PostgreSQL</a:t>
            </a:r>
          </a:p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B6F76"/>
                </a:solidFill>
                <a:latin typeface="Arial"/>
              </a:rPr>
              <a:t>(Cloud SQL)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834640"/>
            <a:ext cx="128016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6B6F76"/>
                </a:solidFill>
                <a:latin typeface="Arial"/>
              </a:rPr>
              <a:t>HTTPS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2834640"/>
            <a:ext cx="128016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6B6F76"/>
                </a:solidFill>
                <a:latin typeface="Arial"/>
              </a:rPr>
              <a:t>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206240"/>
            <a:ext cx="106984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6B6F76"/>
                </a:solidFill>
                <a:latin typeface="Arial"/>
              </a:rPr>
              <a:t>+ Socket.IO (signalisation WebRTC) · Prometheus/Grafana (monitoring) · GitHub Actions (CI/CD)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846320"/>
            <a:ext cx="10698480" cy="109728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029200"/>
            <a:ext cx="1005840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1318"/>
                </a:solidFill>
                <a:latin typeface="Arial"/>
              </a:rPr>
              <a:t>Déployé sur Google Cloud Platform : Cloud Run (API + Frontend) et Cloud SQL, HTTPS automatique.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636776" cy="310896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>
            <a:noAutofit/>
          </a:bodyPr>
          <a:lstStyle/>
          <a:p>
            <a:pPr algn="ctr"/>
            <a:r>
              <a:rPr sz="1200" b="1">
                <a:solidFill>
                  <a:srgbClr val="111318"/>
                </a:solidFill>
                <a:latin typeface="Arial"/>
              </a:rPr>
              <a:t>SÉCURITÉ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1318"/>
                </a:solidFill>
                <a:latin typeface="Arial"/>
              </a:rPr>
              <a:t>OBLIGATOIRE, PAS OPTIONNEL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11064240" cy="19050"/>
          </a:xfrm>
          <a:prstGeom prst="rect">
            <a:avLst/>
          </a:prstGeom>
          <a:solidFill>
            <a:srgbClr val="111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B6F76"/>
                </a:solidFill>
                <a:latin typeface="Arial"/>
              </a:rPr>
              <a:t>TECHPAPY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6B6F76"/>
                </a:solidFill>
                <a:latin typeface="Arial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64240" cy="12700"/>
          </a:xfrm>
          <a:prstGeom prst="rect">
            <a:avLst/>
          </a:prstGeom>
          <a:solidFill>
            <a:srgbClr val="D8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358444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828800"/>
            <a:ext cx="411480" cy="5080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029968"/>
            <a:ext cx="3182112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1318"/>
                </a:solidFill>
                <a:latin typeface="Arial"/>
              </a:rPr>
              <a:t>JWT + REFRESH TOKENS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487168"/>
            <a:ext cx="3182112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6F76"/>
                </a:solidFill>
                <a:latin typeface="Arial"/>
              </a:rPr>
              <a:t>Authentification avec rotation automatique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4256" y="1828800"/>
            <a:ext cx="358444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34256" y="1828800"/>
            <a:ext cx="411480" cy="5080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5424" y="2029968"/>
            <a:ext cx="3182112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1318"/>
                </a:solidFill>
                <a:latin typeface="Arial"/>
              </a:rPr>
              <a:t>BCRYPT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5424" y="2487168"/>
            <a:ext cx="3182112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6F76"/>
                </a:solidFill>
                <a:latin typeface="Arial"/>
              </a:rPr>
              <a:t>Mots de passe hachés, jamais en clair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828800"/>
            <a:ext cx="358444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828800"/>
            <a:ext cx="411480" cy="5080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2029968"/>
            <a:ext cx="3182112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1318"/>
                </a:solidFill>
                <a:latin typeface="Arial"/>
              </a:rPr>
              <a:t>CSRF / XSS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487168"/>
            <a:ext cx="3182112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6F76"/>
                </a:solidFill>
                <a:latin typeface="Arial"/>
              </a:rPr>
              <a:t>Sanitisation des entrées, protection des cookies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721608"/>
            <a:ext cx="358444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721608"/>
            <a:ext cx="411480" cy="5080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922776"/>
            <a:ext cx="3182112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1318"/>
                </a:solidFill>
                <a:latin typeface="Arial"/>
              </a:rPr>
              <a:t>RBAC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379976"/>
            <a:ext cx="3182112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6F76"/>
                </a:solidFill>
                <a:latin typeface="Arial"/>
              </a:rPr>
              <a:t>Rôles utilisateur / administrateur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34256" y="3721608"/>
            <a:ext cx="358444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34256" y="3721608"/>
            <a:ext cx="411480" cy="5080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35424" y="3922776"/>
            <a:ext cx="3182112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1318"/>
                </a:solidFill>
                <a:latin typeface="Arial"/>
              </a:rPr>
              <a:t>RATE LIMITING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35424" y="4379976"/>
            <a:ext cx="3182112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6F76"/>
                </a:solidFill>
                <a:latin typeface="Arial"/>
              </a:rPr>
              <a:t>Anti brute-force sur les routes sensibles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19872" y="3721608"/>
            <a:ext cx="358444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19872" y="3721608"/>
            <a:ext cx="411480" cy="5080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0" y="3922776"/>
            <a:ext cx="3182112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1318"/>
                </a:solidFill>
                <a:latin typeface="Arial"/>
              </a:rPr>
              <a:t>LOGS D'AUDIT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4379976"/>
            <a:ext cx="3182112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6F76"/>
                </a:solidFill>
                <a:latin typeface="Arial"/>
              </a:rPr>
              <a:t>Connexions, échecs, actions sensibles tracées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307592" cy="310896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>
            <a:noAutofit/>
          </a:bodyPr>
          <a:lstStyle/>
          <a:p>
            <a:pPr algn="ctr"/>
            <a:r>
              <a:rPr sz="1200" b="1">
                <a:solidFill>
                  <a:srgbClr val="111318"/>
                </a:solidFill>
                <a:latin typeface="Arial"/>
              </a:rPr>
              <a:t>DEVOPS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1318"/>
                </a:solidFill>
                <a:latin typeface="Arial"/>
              </a:rPr>
              <a:t>MONITORING &amp; CI/CD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11064240" cy="19050"/>
          </a:xfrm>
          <a:prstGeom prst="rect">
            <a:avLst/>
          </a:prstGeom>
          <a:solidFill>
            <a:srgbClr val="111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B6F76"/>
                </a:solidFill>
                <a:latin typeface="Arial"/>
              </a:rPr>
              <a:t>TECHPAPY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6B6F76"/>
                </a:solidFill>
                <a:latin typeface="Arial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64240" cy="12700"/>
          </a:xfrm>
          <a:prstGeom prst="rect">
            <a:avLst/>
          </a:prstGeom>
          <a:solidFill>
            <a:srgbClr val="D8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30352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B6F76"/>
                </a:solidFill>
                <a:latin typeface="Arial"/>
              </a:rPr>
              <a:t>OBSERVABILITÉ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40280"/>
            <a:ext cx="5303520" cy="3657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</a:pPr>
            <a:r>
              <a:rPr sz="1450">
                <a:solidFill>
                  <a:srgbClr val="FFC700"/>
                </a:solidFill>
                <a:latin typeface="Arial"/>
              </a:rPr>
              <a:t>■  </a:t>
            </a:r>
            <a:r>
              <a:rPr sz="1450">
                <a:solidFill>
                  <a:srgbClr val="111318"/>
                </a:solidFill>
                <a:latin typeface="Arial"/>
              </a:rPr>
              <a:t>Prometheus + Grafana déployés sur GCP</a:t>
            </a:r>
          </a:p>
          <a:p>
            <a:pPr>
              <a:spcAft>
                <a:spcPts val="1000"/>
              </a:spcAft>
            </a:pPr>
            <a:r>
              <a:rPr sz="1450">
                <a:solidFill>
                  <a:srgbClr val="FFC700"/>
                </a:solidFill>
                <a:latin typeface="Arial"/>
              </a:rPr>
              <a:t>■  </a:t>
            </a:r>
            <a:r>
              <a:rPr sz="1450">
                <a:solidFill>
                  <a:srgbClr val="111318"/>
                </a:solidFill>
                <a:latin typeface="Arial"/>
              </a:rPr>
              <a:t>Cloud Logging (logs centralisés automatiques)</a:t>
            </a:r>
          </a:p>
          <a:p>
            <a:pPr>
              <a:spcAft>
                <a:spcPts val="1000"/>
              </a:spcAft>
            </a:pPr>
            <a:r>
              <a:rPr sz="1450">
                <a:solidFill>
                  <a:srgbClr val="FFC700"/>
                </a:solidFill>
                <a:latin typeface="Arial"/>
              </a:rPr>
              <a:t>■  </a:t>
            </a:r>
            <a:r>
              <a:rPr sz="1450">
                <a:solidFill>
                  <a:srgbClr val="111318"/>
                </a:solidFill>
                <a:latin typeface="Arial"/>
              </a:rPr>
              <a:t>Alertes Slack automatiques</a:t>
            </a:r>
          </a:p>
          <a:p>
            <a:pPr>
              <a:spcAft>
                <a:spcPts val="1000"/>
              </a:spcAft>
            </a:pPr>
            <a:r>
              <a:rPr sz="1450">
                <a:solidFill>
                  <a:srgbClr val="FFC700"/>
                </a:solidFill>
                <a:latin typeface="Arial"/>
              </a:rPr>
              <a:t>■  </a:t>
            </a:r>
            <a:r>
              <a:rPr sz="1450">
                <a:solidFill>
                  <a:srgbClr val="111318"/>
                </a:solidFill>
                <a:latin typeface="Arial"/>
              </a:rPr>
              <a:t>Cloud Trace (performances applicatives)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828800"/>
            <a:ext cx="530352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B6F76"/>
                </a:solidFill>
                <a:latin typeface="Arial"/>
              </a:rPr>
              <a:t>CI/CD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240280"/>
            <a:ext cx="5303520" cy="3657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</a:pPr>
            <a:r>
              <a:rPr sz="1450">
                <a:solidFill>
                  <a:srgbClr val="FFC700"/>
                </a:solidFill>
                <a:latin typeface="Arial"/>
              </a:rPr>
              <a:t>■  </a:t>
            </a:r>
            <a:r>
              <a:rPr sz="1450">
                <a:solidFill>
                  <a:srgbClr val="111318"/>
                </a:solidFill>
                <a:latin typeface="Arial"/>
              </a:rPr>
              <a:t>GitHub Actions : lint, tests, scan sécurité</a:t>
            </a:r>
          </a:p>
          <a:p>
            <a:pPr>
              <a:spcAft>
                <a:spcPts val="1000"/>
              </a:spcAft>
            </a:pPr>
            <a:r>
              <a:rPr sz="1450">
                <a:solidFill>
                  <a:srgbClr val="FFC700"/>
                </a:solidFill>
                <a:latin typeface="Arial"/>
              </a:rPr>
              <a:t>■  </a:t>
            </a:r>
            <a:r>
              <a:rPr sz="1450">
                <a:solidFill>
                  <a:srgbClr val="111318"/>
                </a:solidFill>
                <a:latin typeface="Arial"/>
              </a:rPr>
              <a:t>Couverture de tests &gt; 70%</a:t>
            </a:r>
          </a:p>
          <a:p>
            <a:pPr>
              <a:spcAft>
                <a:spcPts val="1000"/>
              </a:spcAft>
            </a:pPr>
            <a:r>
              <a:rPr sz="1450">
                <a:solidFill>
                  <a:srgbClr val="FFC700"/>
                </a:solidFill>
                <a:latin typeface="Arial"/>
              </a:rPr>
              <a:t>■  </a:t>
            </a:r>
            <a:r>
              <a:rPr sz="1450">
                <a:solidFill>
                  <a:srgbClr val="111318"/>
                </a:solidFill>
                <a:latin typeface="Arial"/>
              </a:rPr>
              <a:t>Déploiement automatique sur push (main)</a:t>
            </a:r>
          </a:p>
          <a:p>
            <a:pPr>
              <a:spcAft>
                <a:spcPts val="1000"/>
              </a:spcAft>
            </a:pPr>
            <a:r>
              <a:rPr sz="1450">
                <a:solidFill>
                  <a:srgbClr val="FFC700"/>
                </a:solidFill>
                <a:latin typeface="Arial"/>
              </a:rPr>
              <a:t>■  </a:t>
            </a:r>
            <a:r>
              <a:rPr sz="1450">
                <a:solidFill>
                  <a:srgbClr val="111318"/>
                </a:solidFill>
                <a:latin typeface="Arial"/>
              </a:rPr>
              <a:t>Rollback en un clic vers la révision précédente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3200400" cy="310896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11318"/>
                </a:solidFill>
              </a:rPr>
              <a:t>INFRASTRUCTURE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6868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11318"/>
                </a:solidFill>
              </a:rPr>
              <a:t>DÉPLOIEMENT SUR GOOGLE CLOUD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36192"/>
            <a:ext cx="11064240" cy="19050"/>
          </a:xfrm>
          <a:prstGeom prst="rect">
            <a:avLst/>
          </a:prstGeom>
          <a:solidFill>
            <a:srgbClr val="D8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11318"/>
                </a:solidFill>
              </a:rPr>
              <a:t>TECHPAPY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111318"/>
                </a:solidFill>
              </a:rP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19088"/>
            <a:ext cx="11064240" cy="12700"/>
          </a:xfrm>
          <a:prstGeom prst="rect">
            <a:avLst/>
          </a:prstGeom>
          <a:solidFill>
            <a:srgbClr val="D8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nfrastructure_gc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4759" y="1750000"/>
            <a:ext cx="7442176" cy="430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143000" cy="310896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>
            <a:noAutofit/>
          </a:bodyPr>
          <a:lstStyle/>
          <a:p>
            <a:pPr algn="ctr"/>
            <a:r>
              <a:rPr sz="1200" b="1">
                <a:solidFill>
                  <a:srgbClr val="111318"/>
                </a:solidFill>
                <a:latin typeface="Arial"/>
              </a:rPr>
              <a:t>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1318"/>
                </a:solidFill>
                <a:latin typeface="Arial"/>
              </a:rPr>
              <a:t>STACK TECHNIQUE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11064240" cy="19050"/>
          </a:xfrm>
          <a:prstGeom prst="rect">
            <a:avLst/>
          </a:prstGeom>
          <a:solidFill>
            <a:srgbClr val="111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B6F76"/>
                </a:solidFill>
                <a:latin typeface="Arial"/>
              </a:rPr>
              <a:t>TECHPAPY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6B6F76"/>
                </a:solidFill>
                <a:latin typeface="Arial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64240" cy="12700"/>
          </a:xfrm>
          <a:prstGeom prst="rect">
            <a:avLst/>
          </a:prstGeom>
          <a:solidFill>
            <a:srgbClr val="D8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20240"/>
            <a:ext cx="11064240" cy="566928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029968"/>
            <a:ext cx="29260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11318"/>
                </a:solidFill>
                <a:latin typeface="Arial"/>
              </a:rPr>
              <a:t>Frontend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029968"/>
            <a:ext cx="7498079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6F76"/>
                </a:solidFill>
                <a:latin typeface="Arial"/>
              </a:rPr>
              <a:t>Next.js 16, TypeScript, Tailwind CSS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487168"/>
            <a:ext cx="11064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596896"/>
            <a:ext cx="29260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11318"/>
                </a:solidFill>
                <a:latin typeface="Arial"/>
              </a:rPr>
              <a:t>Backend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596896"/>
            <a:ext cx="7498079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6F76"/>
                </a:solidFill>
                <a:latin typeface="Arial"/>
              </a:rPr>
              <a:t>Express, TypeScript, Prisma ORM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054096"/>
            <a:ext cx="11064240" cy="566928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163824"/>
            <a:ext cx="29260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11318"/>
                </a:solidFill>
                <a:latin typeface="Arial"/>
              </a:rPr>
              <a:t>Base de données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163824"/>
            <a:ext cx="7498079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6F76"/>
                </a:solidFill>
                <a:latin typeface="Arial"/>
              </a:rPr>
              <a:t>PostgreSQL (Cloud SQL)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621024"/>
            <a:ext cx="11064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30752"/>
            <a:ext cx="29260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11318"/>
                </a:solidFill>
                <a:latin typeface="Arial"/>
              </a:rPr>
              <a:t>Visioconférence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3730752"/>
            <a:ext cx="7498079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6F76"/>
                </a:solidFill>
                <a:latin typeface="Arial"/>
              </a:rPr>
              <a:t>WebRTC (simple-peer) + Socket.IO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187952"/>
            <a:ext cx="11064240" cy="566928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297680"/>
            <a:ext cx="29260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11318"/>
                </a:solidFill>
                <a:latin typeface="Arial"/>
              </a:rPr>
              <a:t>Cloud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4297680"/>
            <a:ext cx="7498079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6F76"/>
                </a:solidFill>
                <a:latin typeface="Arial"/>
              </a:rPr>
              <a:t>Google Cloud Platform (Cloud Run, Cloud SQL)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754880"/>
            <a:ext cx="11064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864608"/>
            <a:ext cx="29260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11318"/>
                </a:solidFill>
                <a:latin typeface="Arial"/>
              </a:rPr>
              <a:t>CI/CD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4864608"/>
            <a:ext cx="7498079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6F76"/>
                </a:solidFill>
                <a:latin typeface="Arial"/>
              </a:rPr>
              <a:t>GitHub Actions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1097280" y="-1097280"/>
            <a:ext cx="2926080" cy="292608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828800" cy="10972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33353D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058400" cy="10972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BILAN DU PROJET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343400"/>
            <a:ext cx="914400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B6F76"/>
                </a:solidFill>
                <a:latin typeface="Arial"/>
              </a:rPr>
              <a:t>Ce qui est fait, ce qui reste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2295144" cy="310896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>
            <a:noAutofit/>
          </a:bodyPr>
          <a:lstStyle/>
          <a:p>
            <a:pPr algn="ctr"/>
            <a:r>
              <a:rPr sz="1200" b="1">
                <a:solidFill>
                  <a:srgbClr val="111318"/>
                </a:solidFill>
                <a:latin typeface="Arial"/>
              </a:rPr>
              <a:t>TRANSPARENCE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1318"/>
                </a:solidFill>
                <a:latin typeface="Arial"/>
              </a:rPr>
              <a:t>CE QUI RESTE À FAIRE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11064240" cy="19050"/>
          </a:xfrm>
          <a:prstGeom prst="rect">
            <a:avLst/>
          </a:prstGeom>
          <a:solidFill>
            <a:srgbClr val="111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B6F76"/>
                </a:solidFill>
                <a:latin typeface="Arial"/>
              </a:rPr>
              <a:t>TECHPAPY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6B6F76"/>
                </a:solidFill>
                <a:latin typeface="Arial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64240" cy="12700"/>
          </a:xfrm>
          <a:prstGeom prst="rect">
            <a:avLst/>
          </a:prstGeom>
          <a:solidFill>
            <a:srgbClr val="D8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30352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B6F76"/>
                </a:solidFill>
                <a:latin typeface="Arial"/>
              </a:rPr>
              <a:t>EN COURS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40280"/>
            <a:ext cx="5303520" cy="3657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</a:pPr>
            <a:r>
              <a:rPr sz="1450">
                <a:solidFill>
                  <a:srgbClr val="FFC700"/>
                </a:solidFill>
                <a:latin typeface="Arial"/>
              </a:rPr>
              <a:t>■  </a:t>
            </a:r>
            <a:r>
              <a:rPr sz="1450">
                <a:solidFill>
                  <a:srgbClr val="111318"/>
                </a:solidFill>
                <a:latin typeface="Arial"/>
              </a:rPr>
              <a:t>Validation du CI/CD automatisé (secrets GitHub)</a:t>
            </a:r>
          </a:p>
          <a:p>
            <a:pPr>
              <a:spcAft>
                <a:spcPts val="1000"/>
              </a:spcAft>
            </a:pPr>
            <a:r>
              <a:rPr sz="1450">
                <a:solidFill>
                  <a:srgbClr val="FFC700"/>
                </a:solidFill>
                <a:latin typeface="Arial"/>
              </a:rPr>
              <a:t>■  </a:t>
            </a:r>
            <a:r>
              <a:rPr sz="1450">
                <a:solidFill>
                  <a:srgbClr val="111318"/>
                </a:solidFill>
                <a:latin typeface="Arial"/>
              </a:rPr>
              <a:t>Déploiement de la VM de monitoring</a:t>
            </a:r>
          </a:p>
          <a:p>
            <a:pPr>
              <a:spcAft>
                <a:spcPts val="1000"/>
              </a:spcAft>
            </a:pPr>
            <a:r>
              <a:rPr sz="1450">
                <a:solidFill>
                  <a:srgbClr val="FFC700"/>
                </a:solidFill>
                <a:latin typeface="Arial"/>
              </a:rPr>
              <a:t>■  </a:t>
            </a:r>
            <a:r>
              <a:rPr sz="1450">
                <a:solidFill>
                  <a:srgbClr val="111318"/>
                </a:solidFill>
                <a:latin typeface="Arial"/>
              </a:rPr>
              <a:t>Certificat HTTPS du domaine (propagation DNS)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828800"/>
            <a:ext cx="530352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B6F76"/>
                </a:solidFill>
                <a:latin typeface="Arial"/>
              </a:rPr>
              <a:t>NON FAIT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240280"/>
            <a:ext cx="5303520" cy="3657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</a:pPr>
            <a:r>
              <a:rPr sz="1450">
                <a:solidFill>
                  <a:srgbClr val="FFC700"/>
                </a:solidFill>
                <a:latin typeface="Arial"/>
              </a:rPr>
              <a:t>■  </a:t>
            </a:r>
            <a:r>
              <a:rPr sz="1450">
                <a:solidFill>
                  <a:srgbClr val="111318"/>
                </a:solidFill>
                <a:latin typeface="Arial"/>
              </a:rPr>
              <a:t>Kubernetes (recommandé, pas obligatoire)</a:t>
            </a:r>
          </a:p>
          <a:p>
            <a:pPr>
              <a:spcAft>
                <a:spcPts val="1000"/>
              </a:spcAft>
            </a:pPr>
            <a:r>
              <a:rPr sz="1450">
                <a:solidFill>
                  <a:srgbClr val="FFC700"/>
                </a:solidFill>
                <a:latin typeface="Arial"/>
              </a:rPr>
              <a:t>■  </a:t>
            </a:r>
            <a:r>
              <a:rPr sz="1450">
                <a:solidFill>
                  <a:srgbClr val="111318"/>
                </a:solidFill>
                <a:latin typeface="Arial"/>
              </a:rPr>
              <a:t>Attribution manuelle des rôles de modération avancée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1371600" y="4389120"/>
            <a:ext cx="3657600" cy="365760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9144000" cy="13716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FFFFF"/>
                </a:solidFill>
                <a:latin typeface="Arial"/>
              </a:rPr>
              <a:t>MERCI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49039"/>
            <a:ext cx="914400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FFC700"/>
                </a:solidFill>
                <a:latin typeface="Arial"/>
              </a:rPr>
              <a:t>Questions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035040"/>
            <a:ext cx="73152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F76"/>
                </a:solidFill>
                <a:latin typeface="Arial"/>
              </a:rPr>
              <a:t>techpapy.fr  ·  github.com/wiameazim/Techpapy_v1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